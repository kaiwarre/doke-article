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Calibri"/>
              </a:rPr>
              <a:t>МИНИСТЕРСТВО ОБРАЗОВАНИЯ И НАУКИ КЫРГЫЗСКОЙ РЕСПУБЛИКИ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КГТУ им. И. Раззакова • Институт информационных технологий • Кафедра ПМиИ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75569"/>
                </a:solidFill>
                <a:latin typeface="Calibri"/>
              </a:rPr>
              <a:t>Тема выпускной квалификационной работы: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54880"/>
                </a:solidFill>
                <a:latin typeface="Calibri"/>
              </a:rPr>
              <a:t>ПЛАТФОРМА ДЛЯ ПОИСКА И РАЗМЕЩЕНИЯ ОБЪЯВЛЕНИЙ О ПРОДАЖЕ И АРЕНДЕ ТЕХНИКИ И АВТОМОБИЛЕЙ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572000"/>
            <a:ext cx="10362895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75569"/>
                </a:solidFill>
                <a:latin typeface="Calibri"/>
              </a:rPr>
              <a:t>Выполнил: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983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F172A"/>
                </a:solidFill>
                <a:latin typeface="Calibri"/>
              </a:rPr>
              <a:t>студент группы ПМИб-1-22  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F172A"/>
                </a:solidFill>
                <a:latin typeface="Calibri"/>
              </a:rPr>
              <a:t>Ф. И. О. _____________________________________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75569"/>
                </a:solidFill>
                <a:latin typeface="Calibri"/>
              </a:rPr>
              <a:t>Руководитель: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983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F172A"/>
                </a:solidFill>
                <a:latin typeface="Calibri"/>
              </a:rPr>
              <a:t>к.ф.-м.н., доцент 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F172A"/>
                </a:solidFill>
                <a:latin typeface="Calibri"/>
              </a:rPr>
              <a:t>Ф. И. О. _____________________________________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4880"/>
                </a:solidFill>
                <a:latin typeface="Calibri"/>
              </a:rPr>
              <a:t>Бишкек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Актуальность 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577840" cy="2651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09728" cy="265176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Состояние рынка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303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Объём e-commerce Кыргызстана в 2023 г. — 200–300 млн $ США по оценкам ВБ
Проникновение интернета в городах &gt; 85%
Рост мобильного трафика на классифайдах СНГ &gt; 70%
Доминируют Lalafo (универсальный) и Mashina.kg (только авто)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577840" cy="2651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097280"/>
            <a:ext cx="109728" cy="2651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Выявленные пробелы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5303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Нет специализированного сервиса аренды техники
Отсутствует календарный модуль доступности
Скудные фильтры по спецтехнике
Слабая поддержка кыргызского языка в вертикальных сервисах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86200"/>
            <a:ext cx="112471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109728" cy="228600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77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Актуальность работы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89120"/>
            <a:ext cx="10972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1. Рост рынка e-commerce КР расширяет пространство для новых игроков.
2. Ниша специализированной платформы продажи и аренды техники и автомобилей до сих пор не занята.
3. Jamstack-архитектуры позволяют построить работоспособный прототип без серверной инфраструктуры, что соответствует возможностям студенческого проекта.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2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TechnoKG • ВКР • КГТУ им. И. Раззакова •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Цель, задачи, объект и предмет исследования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" cy="109728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ЦЕЛЬ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Разработка клиентской веб-платформы для размещения и поиска объявлений о продаже и аренде техники и автомобилей с прототипом и публичным деплоем.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557784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109728" cy="141732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ОБЪЕКТ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Процесс размещения и поиска объявлений о продаже и аренде техники и автомобилей через цифровые платформы.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240280"/>
            <a:ext cx="557784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240280"/>
            <a:ext cx="109728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ПРЕДМЕТ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7432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Программные и технологические методы построения веб-платформы объявлений (продавец ↔ арендодатель ↔ покупатель).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94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ЗАДАЧИ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11155680" cy="219456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Изучить понятие цифровой платформы объявлений в цифровой экономике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Проанализировать функции, структуру и технологии онлайн-платформ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Проанализировать рынок КР и СНГ, сформировать функциональные требования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Спроектировать архитектуру системы, модель данных и пользовательские роли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Реализовать интерфейс и функциональные модули, провести тестирование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3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TechnoKG • ВКР • КГТУ им. И. Раззакова •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Подходы к построению и методика разработки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54880"/>
                </a:solidFill>
                <a:latin typeface="Calibri"/>
              </a:rPr>
              <a:t>Современные подходы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5778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" cy="155448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SPA + Jamstack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Клиентская логика + статика на CDN, Service Worker для имитации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71800"/>
            <a:ext cx="55778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971800"/>
            <a:ext cx="109728" cy="155448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632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Client-mock-server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7472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IndexedDB как БД + MSW как имитация REST → нулевая стоимость переноса на 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63440"/>
            <a:ext cx="55778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663440"/>
            <a:ext cx="109728" cy="155448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754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PWA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16636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Офлайн-доступ к каталогу, иконка на главном экране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9144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54880"/>
                </a:solidFill>
                <a:latin typeface="Calibri"/>
              </a:rPr>
              <a:t>Методика разработки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280160"/>
            <a:ext cx="55778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280160"/>
            <a:ext cx="109728" cy="1143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1. Анализ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830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Lalafo, Mashina.kg, OLX, Avito — 10 критериев сравнения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560320"/>
            <a:ext cx="55778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2560320"/>
            <a:ext cx="109728" cy="1143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651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2. Требования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0632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25 FR + 6 NFR (IEEE 830, ISO/IEC 25010:2023, MoSCoW)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840479"/>
            <a:ext cx="55778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3840479"/>
            <a:ext cx="109728" cy="1143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93191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3. Проектирование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34339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UML Component / Deployment / ER / Use Case, матрица ролей RBAC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5120640"/>
            <a:ext cx="55778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5120640"/>
            <a:ext cx="109728" cy="1143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5212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4. Реализация и тесты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6235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Модули по §3.2 + Vitest 46 тестов + Lighthouse 85+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4 /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TechnoKG • ВКР • КГТУ им. И. Раззакова •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Использованные технологии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657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09728" cy="109728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React 18 + Vite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Декларативные компоненты, dev-сервер на ES-модулях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7" y="1188720"/>
            <a:ext cx="3657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1687" y="1188720"/>
            <a:ext cx="109728" cy="109728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7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TypeScript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7" y="1691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Статическая типизация, контракты между модулями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66174" y="1188720"/>
            <a:ext cx="3657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66174" y="1188720"/>
            <a:ext cx="109728" cy="109728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94774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Tailwind 3 + Inter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4774" y="1691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Утилитарный CSS, дизайн-токены, шрифт Inter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77440"/>
            <a:ext cx="3657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377440"/>
            <a:ext cx="109728" cy="109728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468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Dexie.js + IndexedDB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880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Локальная БД: схема, индексы, реактивные подписки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61687" y="2377440"/>
            <a:ext cx="3657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1687" y="2377440"/>
            <a:ext cx="109728" cy="109728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7" y="2468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Zustand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7" y="2880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Сессия, фильтры, состояние с persist в localStorage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66174" y="2377440"/>
            <a:ext cx="3657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66174" y="2377440"/>
            <a:ext cx="109728" cy="109728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94774" y="2468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React Hook Form + Zod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94774" y="2880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Многошаговая форма публикации с валидацией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566160"/>
            <a:ext cx="3657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566160"/>
            <a:ext cx="109728" cy="109728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657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MSW (Mock Service Worker)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069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Имитация REST API: 6 endpoints в DEV-режиме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61687" y="3566160"/>
            <a:ext cx="3657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61687" y="3566160"/>
            <a:ext cx="109728" cy="109728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0287" y="3657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react-easy-crop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7" y="4069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Редактор фото: crop + rotate + zoom (canvas API)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66174" y="3566160"/>
            <a:ext cx="3657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66174" y="3566160"/>
            <a:ext cx="109728" cy="109728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94774" y="3657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Web Crypto API (PBKDF2)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94774" y="4069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Хеширование паролей: SHA-256, 100k iter, 16-byte salt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754880"/>
            <a:ext cx="3657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754880"/>
            <a:ext cx="109728" cy="109728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846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Vitest + RTL + axe-core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2578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Юнит/интеграционные тесты, доступность WCAG 2.1 AA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61687" y="4754880"/>
            <a:ext cx="3657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61687" y="4754880"/>
            <a:ext cx="109728" cy="109728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90287" y="4846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Lighthouse + web-vitals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90287" y="52578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Performance audit, Core Web Vitals (LCP/INP/CLS)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66174" y="4754880"/>
            <a:ext cx="3657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66174" y="4754880"/>
            <a:ext cx="109728" cy="109728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94774" y="4846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Vercel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94774" y="52578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Публичный хостинг, CI/CD из GitHub, CDN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5 / 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TechnoKG • ВКР • КГТУ им. И. Раззакова •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Функциональная модель: каталог и фасетная навигация</a:t>
            </a:r>
          </a:p>
        </p:txBody>
      </p:sp>
      <p:pic>
        <p:nvPicPr>
          <p:cNvPr id="4" name="Picture 3" descr="02_catalog_fil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589520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21040" y="1188720"/>
            <a:ext cx="338328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21040" y="1188720"/>
            <a:ext cx="109728" cy="457200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Реализовано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91640"/>
            <a:ext cx="310896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FR-01: каталог по категориям
FR-02: фильтры (город, цена, валюта)
FR-03: карточка с галереей
FR-09: избранное
FR-10: сохранение поисков
FR-14: «Показать номер»
FR-15: жалобы
FR-17–19: локализация KGS/USD, +996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6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TechnoKG • ВКР • КГТУ им. И. Раззакова •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Архитектура системы: client-mock-server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64592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54880"/>
                </a:solidFill>
                <a:latin typeface="Calibri"/>
              </a:rPr>
              <a:t>Клиентский слой (React SPA)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783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Каталог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783080"/>
            <a:ext cx="1783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9659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Карточка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783080"/>
            <a:ext cx="1783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9659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Публикация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1783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659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Избранное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9" y="1783080"/>
            <a:ext cx="1783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19659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Кабинет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12680" y="1783080"/>
            <a:ext cx="1783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12680" y="19659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Модерация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669280" y="2926080"/>
            <a:ext cx="822960" cy="36576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429000"/>
            <a:ext cx="11247120" cy="1645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54880"/>
                </a:solidFill>
                <a:latin typeface="Calibri"/>
              </a:rPr>
              <a:t>Слой данных и имитации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23360"/>
            <a:ext cx="26974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690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Calibri"/>
              </a:rPr>
              <a:t>Zustand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348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сессия, фильтры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47287" y="4023360"/>
            <a:ext cx="26974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38727" y="40690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Calibri"/>
              </a:rPr>
              <a:t>IndexedDB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7" y="44348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Dexie.js: listings, users, favorites…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54496" y="4023360"/>
            <a:ext cx="26974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40690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Calibri"/>
              </a:rPr>
              <a:t>MSW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44348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имитация REST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61703" y="4023360"/>
            <a:ext cx="26974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53143" y="40690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Calibri"/>
              </a:rPr>
              <a:t>React Hook Form + Zod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3143" y="44348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валидация форм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5669280" y="5166360"/>
            <a:ext cx="822960" cy="36576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Vercel CDN — статический артефакт, автоматический деплой из GitHub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7 /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TechnoKG • ВКР • КГТУ им. И. Раззакова •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Результаты реализации прототипа</a:t>
            </a:r>
          </a:p>
        </p:txBody>
      </p:sp>
      <p:pic>
        <p:nvPicPr>
          <p:cNvPr id="4" name="Picture 3" descr="06_publish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669280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5204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Публикация — многошаговая форма с валидацией и ImageEditor</a:t>
            </a:r>
          </a:p>
        </p:txBody>
      </p:sp>
      <p:pic>
        <p:nvPicPr>
          <p:cNvPr id="6" name="Picture 5" descr="08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77639"/>
            <a:ext cx="566928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436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75569"/>
                </a:solidFill>
                <a:latin typeface="Calibri"/>
              </a:rPr>
              <a:t>Личный кабинет — мои объявления + управление фото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97280"/>
            <a:ext cx="530352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097280"/>
            <a:ext cx="109728" cy="530352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Ключевые показатели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600200"/>
            <a:ext cx="50292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Страниц-маршрутов: 8 (+ /login, /register)
Закрыто функциональных требований: 18 / 25 (72%)
Регистрация: PBKDF2-SHA256, 100k iter, salt 16 байт
Редактор фото: crop + rotate + zoom (canvas API)
MSW handlers: 6 endpoints (GET/POST/PATCH listings + ...)
Юнит/интеграционные тесты: 46 / 46 passed (Vitest + RTL)
Сид: 30+ объявлений, 11 кыргызских юзеров, 9 городов КР
Production-bundle: 488 КБ / 152 КБ gzip, build 3.3с
Доступность: WCAG 2.1 AA (axe-core)
Хостинг: Vercel — публичная ссылка на слайде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8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TechnoKG • ВКР • КГТУ им. И. Раззакова •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Выводы и практическая значимость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09728" cy="201168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Что сделано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972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Обосновано понятие цифровой платформы объявлений и выделены три пробела рынка КР: аренда техники, локализация на кыргызский, двухвалютность. Сформулированы 25 FR + 6 NFR, разработан клиентский прототип на React + Vite + TypeScript + Dexie + MSW + PBKDF2-регистрация + редактор фото. Прототип развёрнут на Vercel, прошёл 46 / 46 тестов, готов к демонстрации.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46120"/>
            <a:ext cx="557784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246120"/>
            <a:ext cx="109728" cy="237744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337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Практическая значимость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49040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Работоспособный прототип для защиты
Набор требований для последующего развития
Архитектурные решения, переносимые на backend
Кыргызский контекст: +996, KGS/USD, города КР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246120"/>
            <a:ext cx="557784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3246120"/>
            <a:ext cx="109728" cy="2377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337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4880"/>
                </a:solidFill>
                <a:latin typeface="Calibri"/>
              </a:rPr>
              <a:t>Перспективы развития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749040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172A"/>
                </a:solidFill>
                <a:latin typeface="Calibri"/>
              </a:rPr>
              <a:t>Миграция на Supabase (корзина B)
Встроенный чат через WebRTC
Геолокация и карта объявлений
Рекомендательная система на ML
PWA-обёртка с push-уведомлениями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9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75569"/>
                </a:solidFill>
                <a:latin typeface="Calibri"/>
              </a:rPr>
              <a:t>TechnoKG • ВКР • КГТУ им. И. Раззакова •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Calibri"/>
              </a:rP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Готов ответить на вопросы комиссии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Прототип онлайн: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1206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Ссылка вынесена в Приложение Е дипломной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Платформа для поиска и размещения объявлений о продаже и аренде техники и автомобилей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